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443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AI-Enabled Care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Prioritization System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926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E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Context-aware care gap detection for Island Health, BC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3657600"/>
            <a:ext cx="2286000" cy="0"/>
          </a:xfrm>
          <a:prstGeom prst="line">
            <a:avLst/>
          </a:prstGeom>
          <a:noFill/>
          <a:ln w="38100">
            <a:solidFill>
              <a:srgbClr val="E844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931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Rachel Ma  &amp;  Joel Li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343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8B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UVic Healthcare AI Hackathon  ·  March 2026  ·  Track 2: Population Health &amp; Health Equity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6576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188720"/>
            <a:ext cx="73152" cy="1463040"/>
          </a:xfrm>
          <a:prstGeom prst="rect">
            <a:avLst/>
          </a:prstGeom>
          <a:solidFill>
            <a:srgbClr val="E8443A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234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44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in 5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005840" y="19659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 residents lack a family doctor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65760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188720"/>
            <a:ext cx="73152" cy="1463040"/>
          </a:xfrm>
          <a:prstGeom prst="rect">
            <a:avLst/>
          </a:prstGeom>
          <a:solidFill>
            <a:srgbClr val="FF7F0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234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7F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78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5029200" y="19659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 communities with vastly different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to primary care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76809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cycle through EDs without continuity of care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coordinators have no systematic way to identify who needs outreach most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tools look at clinical data OR community data — never both together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with uncontrolled diabetes in a GP-shortage community is at compound risk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 Solution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 patient clinical risk with community structural barriers into one actionable priority score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560320" cy="256032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45920"/>
            <a:ext cx="2560320" cy="54864"/>
          </a:xfrm>
          <a:prstGeom prst="rect">
            <a:avLst/>
          </a:prstGeom>
          <a:solidFill>
            <a:srgbClr val="D62728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28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Priority Queue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3317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patient list with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"Why Now?" reasoning: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Need, Access Barrier,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Impact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566160" y="1645920"/>
            <a:ext cx="2560320" cy="256032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566160" y="1645920"/>
            <a:ext cx="2560320" cy="54864"/>
          </a:xfrm>
          <a:prstGeom prst="rect">
            <a:avLst/>
          </a:prstGeom>
          <a:solidFill>
            <a:srgbClr val="FF7F0E"/>
          </a:solidFill>
          <a:ln/>
        </p:spPr>
      </p:sp>
      <p:sp>
        <p:nvSpPr>
          <p:cNvPr id="10" name="Text 8"/>
          <p:cNvSpPr/>
          <p:nvPr/>
        </p:nvSpPr>
        <p:spPr>
          <a:xfrm>
            <a:off x="3749040" y="1828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Intervention Planner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749040" y="23317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N outreach capacity,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optimal patients,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avoided ED visits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cost savings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0" y="1645920"/>
            <a:ext cx="2560320" cy="256032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0" y="1645920"/>
            <a:ext cx="2560320" cy="54864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0" y="18288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Scenario Simulator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83680" y="233172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What-if: improve primary care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attachment in a community,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tier shifts and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impact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44805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AI-generated natural-language rationale per patient (Claude 3.5 Haiku)  ·  Full 78-community BC vulnerability ranking  ·  Opioid &amp; wait time context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 Works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743200" cy="1828800"/>
          </a:xfrm>
          <a:prstGeom prst="rect">
            <a:avLst/>
          </a:prstGeom>
          <a:solidFill>
            <a:srgbClr val="EBF5F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280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547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Track 1: Patient Data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Encounters &amp; ED visits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results (HbA1c, troponin)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Medications (polypharmacy)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 history, follow-up gaps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943600" y="1188720"/>
            <a:ext cx="2743200" cy="1828800"/>
          </a:xfrm>
          <a:prstGeom prst="rect">
            <a:avLst/>
          </a:prstGeom>
          <a:solidFill>
            <a:srgbClr val="FEF3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126480" y="1280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7F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Track 2: Community Data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0" y="169164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without family doctor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Poverty, opioid overdose rates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CIHI elective wait times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 BC communities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371600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3547A"/>
                </a:solidFill>
              </a:rPr>
              <a:t>↓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858000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7F0E"/>
                </a:solidFill>
              </a:rPr>
              <a:t>↓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2743200" cy="594360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42900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Risk Score  (0–100)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43600" y="3429000"/>
            <a:ext cx="2743200" cy="594360"/>
          </a:xfrm>
          <a:prstGeom prst="rect">
            <a:avLst/>
          </a:prstGeom>
          <a:solidFill>
            <a:srgbClr val="FF7F0E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0" y="342900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Vuln. Score  (0–100)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00400" y="342900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6B7B8D"/>
                </a:solidFill>
              </a:rPr>
              <a:t>→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394960" y="342900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6B7B8D"/>
                </a:solidFill>
              </a:rPr>
              <a:t>←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3474720" y="4297680"/>
            <a:ext cx="2194560" cy="640080"/>
          </a:xfrm>
          <a:prstGeom prst="rect">
            <a:avLst/>
          </a:prstGeom>
          <a:solidFill>
            <a:srgbClr val="0B2545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474720" y="4297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Priority Score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474720" y="4617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E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clinical  +  40% community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114800" y="40233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B2545"/>
                </a:solidFill>
              </a:rPr>
              <a:t>↓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57200" y="9601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Linkage: Patient postal code (FSA) → BC Community Health Service Area (CHSA)  —  CIHI area-based approach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Scoring &amp; Tier Assignment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1051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547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Patient Risk (7 components)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38404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 visit frequency (12mo)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35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pts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Chronic disease control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35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pts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Polypharmacy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35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pts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Left-AMA history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35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pts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Post-discharge follow-up gap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35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pts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 time burden (Track 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35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pts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 barrier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35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pts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0" y="1051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Priority Tiers (percentile-based)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029200" y="1554480"/>
            <a:ext cx="3657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029200" y="1554480"/>
            <a:ext cx="73152" cy="640080"/>
          </a:xfrm>
          <a:prstGeom prst="rect">
            <a:avLst/>
          </a:prstGeom>
          <a:solidFill>
            <a:srgbClr val="D62728"/>
          </a:solidFill>
          <a:ln/>
        </p:spPr>
      </p:sp>
      <p:sp>
        <p:nvSpPr>
          <p:cNvPr id="8" name="Text 5"/>
          <p:cNvSpPr/>
          <p:nvPr/>
        </p:nvSpPr>
        <p:spPr>
          <a:xfrm>
            <a:off x="5257800" y="155448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627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CRITICAL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92240" y="15544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5%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257800" y="184708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Outreach within 48h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029200" y="2331720"/>
            <a:ext cx="3657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029200" y="2331720"/>
            <a:ext cx="73152" cy="640080"/>
          </a:xfrm>
          <a:prstGeom prst="rect">
            <a:avLst/>
          </a:prstGeom>
          <a:solidFill>
            <a:srgbClr val="FF7F0E"/>
          </a:solidFill>
          <a:ln/>
        </p:spPr>
      </p:sp>
      <p:sp>
        <p:nvSpPr>
          <p:cNvPr id="13" name="Text 10"/>
          <p:cNvSpPr/>
          <p:nvPr/>
        </p:nvSpPr>
        <p:spPr>
          <a:xfrm>
            <a:off x="5257800" y="23317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7F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92240" y="23317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80th–95th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257800" y="26243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in 2 weeks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0" y="3108960"/>
            <a:ext cx="3657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029200" y="3108960"/>
            <a:ext cx="73152" cy="640080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18" name="Text 15"/>
          <p:cNvSpPr/>
          <p:nvPr/>
        </p:nvSpPr>
        <p:spPr>
          <a:xfrm>
            <a:off x="5257800" y="31089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MEDIUM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92240" y="31089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50th–80th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257800" y="340156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watchlist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0" y="3886200"/>
            <a:ext cx="3657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029200" y="3886200"/>
            <a:ext cx="73152" cy="640080"/>
          </a:xfrm>
          <a:prstGeom prst="rect">
            <a:avLst/>
          </a:prstGeom>
          <a:solidFill>
            <a:srgbClr val="2CA02C"/>
          </a:solidFill>
          <a:ln/>
        </p:spPr>
      </p:sp>
      <p:sp>
        <p:nvSpPr>
          <p:cNvPr id="23" name="Text 20"/>
          <p:cNvSpPr/>
          <p:nvPr/>
        </p:nvSpPr>
        <p:spPr>
          <a:xfrm>
            <a:off x="5257800" y="388620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A02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LOW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6492240" y="38862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50%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257800" y="417880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recall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31520" y="4572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weights and thresholds are explicit in config.py — fully auditable, no black box.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Impact — What the System Reveals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965960" cy="164592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188720"/>
            <a:ext cx="1965960" cy="54864"/>
          </a:xfrm>
          <a:prstGeom prst="rect">
            <a:avLst/>
          </a:prstGeom>
          <a:solidFill>
            <a:srgbClr val="13547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3716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3547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2,000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20574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scored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ranked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651760" y="1188720"/>
            <a:ext cx="1965960" cy="164592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651760" y="1188720"/>
            <a:ext cx="1965960" cy="54864"/>
          </a:xfrm>
          <a:prstGeom prst="rect">
            <a:avLst/>
          </a:prstGeom>
          <a:solidFill>
            <a:srgbClr val="E8443A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13716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44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349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651760" y="20574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High-priority patients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lacking GP access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846320" y="1188720"/>
            <a:ext cx="1965960" cy="164592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46320" y="1188720"/>
            <a:ext cx="1965960" cy="54864"/>
          </a:xfrm>
          <a:prstGeom prst="rect">
            <a:avLst/>
          </a:prstGeom>
          <a:solidFill>
            <a:srgbClr val="FF7F0E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13716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7F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170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4846320" y="20574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Preventable 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visits per year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040880" y="1188720"/>
            <a:ext cx="1965960" cy="164592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040880" y="1188720"/>
            <a:ext cx="1965960" cy="54864"/>
          </a:xfrm>
          <a:prstGeom prst="rect">
            <a:avLst/>
          </a:prstGeom>
          <a:solidFill>
            <a:srgbClr val="2CA02C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0" y="13716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CA02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$85K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7040880" y="20574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annual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savings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3200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Insights from the Demo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31520" y="361188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 Planner: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Outreaching just 50 patients avoids 96 ED visits/yr ($48K savings)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Simulator: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5pp improvement in GP attachment shifts 547 patients to lower-urgency tiers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"Why Now?" module: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patient has structured reasoning — Clinical Need, Access Barrier, System Impact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Honest by Design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 into the system to earn trust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547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Strengths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3840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Explicit, auditable scoring weights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"Why Now?" explains every patient flag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Framed as prioritization, not prediction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CIHI area-based linkage approach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ALL Track 2 datasets (community,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times, opioid surveillance)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44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Disclosed Limitations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029200" y="1828800"/>
            <a:ext cx="3840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Ecological fallacy: area stats ≠ individual truth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causal validation in this dataset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patient data (Synthea)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FSA→CHSA mapping is approximate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ED reduction is modelled assumption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42062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tool that knows what it doesn't know is more trustworthy than one that hides it."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443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731520" y="2103120"/>
            <a:ext cx="1828800" cy="0"/>
          </a:xfrm>
          <a:prstGeom prst="line">
            <a:avLst/>
          </a:prstGeom>
          <a:noFill/>
          <a:ln w="38100">
            <a:solidFill>
              <a:srgbClr val="E844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37744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8E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care-priority.streamlit.app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8E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github.com/rachel-wenhui-ma/care-priority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4389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8B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Rachel Ma  ·  Joel Li  |  Track 2: Population Health &amp; Health Equity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AI-Enabled Care Prioritization System</dc:title>
  <dc:subject>PptxGenJS Presentation</dc:subject>
  <dc:creator>Rachel Ma &amp; Joel Li</dc:creator>
  <cp:lastModifiedBy>Rachel Ma &amp; Joel Li</cp:lastModifiedBy>
  <cp:revision>1</cp:revision>
  <dcterms:created xsi:type="dcterms:W3CDTF">2026-03-28T19:29:46Z</dcterms:created>
  <dcterms:modified xsi:type="dcterms:W3CDTF">2026-03-28T19:29:46Z</dcterms:modified>
</cp:coreProperties>
</file>