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3" autoAdjust="0"/>
    <p:restoredTop sz="70725" autoAdjust="0"/>
  </p:normalViewPr>
  <p:slideViewPr>
    <p:cSldViewPr snapToGrid="0" snapToObjects="1">
      <p:cViewPr varScale="1">
        <p:scale>
          <a:sx n="120" d="100"/>
          <a:sy n="120" d="100"/>
        </p:scale>
        <p:origin x="1360" y="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4144" y="8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832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Hello everyone.</a:t>
            </a:r>
            <a:br>
              <a:rPr lang="en-US" altLang="zh-CN" dirty="0"/>
            </a:br>
            <a:r>
              <a:rPr lang="en-US" altLang="zh-CN" dirty="0"/>
              <a:t>We are Rachel and Joel.</a:t>
            </a:r>
          </a:p>
          <a:p>
            <a:r>
              <a:rPr lang="en-US" altLang="zh-CN" dirty="0"/>
              <a:t>Our project is called </a:t>
            </a:r>
            <a:r>
              <a:rPr lang="en-US" altLang="zh-CN" b="1" dirty="0"/>
              <a:t>AI-Enabled Care Prioritization System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It starts with one simple question:</a:t>
            </a:r>
          </a:p>
          <a:p>
            <a:r>
              <a:rPr lang="en-US" altLang="zh-CN" b="1" dirty="0"/>
              <a:t>When care resources are limited, who should we help first?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BC, many people still do not have a family doctor.</a:t>
            </a:r>
            <a:br>
              <a:rPr lang="en-US" altLang="zh-CN" dirty="0"/>
            </a:br>
            <a:r>
              <a:rPr lang="en-US" altLang="zh-CN" dirty="0"/>
              <a:t>Because of that, some patients keep returning to the emergency department, not only because of clinical need, but also because they live in communities with weaker access to care.</a:t>
            </a:r>
          </a:p>
          <a:p>
            <a:r>
              <a:rPr lang="en-US" altLang="zh-CN" dirty="0"/>
              <a:t>That is the gap we wanted to address.</a:t>
            </a:r>
          </a:p>
          <a:p>
            <a:r>
              <a:rPr lang="en-US" altLang="zh-CN" dirty="0"/>
              <a:t>Most existing tools look at only one side.</a:t>
            </a:r>
            <a:br>
              <a:rPr lang="en-US" altLang="zh-CN" dirty="0"/>
            </a:br>
            <a:r>
              <a:rPr lang="en-US" altLang="zh-CN" dirty="0"/>
              <a:t>They look at clinical data, or they look at community data.</a:t>
            </a:r>
            <a:br>
              <a:rPr lang="en-US" altLang="zh-CN" dirty="0"/>
            </a:br>
            <a:r>
              <a:rPr lang="en-US" altLang="zh-CN" dirty="0"/>
              <a:t>But in real life, both matter.</a:t>
            </a:r>
          </a:p>
          <a:p>
            <a:r>
              <a:rPr lang="en-US" altLang="zh-CN" dirty="0"/>
              <a:t>So our idea was simple:</a:t>
            </a:r>
            <a:br>
              <a:rPr lang="en-US" altLang="zh-CN" dirty="0"/>
            </a:br>
            <a:r>
              <a:rPr lang="en-US" altLang="zh-CN" dirty="0"/>
              <a:t>combine </a:t>
            </a:r>
            <a:r>
              <a:rPr lang="en-US" altLang="zh-CN" b="1" dirty="0"/>
              <a:t>patient clinical risk</a:t>
            </a:r>
            <a:r>
              <a:rPr lang="en-US" altLang="zh-CN" dirty="0"/>
              <a:t> with </a:t>
            </a:r>
            <a:r>
              <a:rPr lang="en-US" altLang="zh-CN" b="1" dirty="0"/>
              <a:t>community vulnerability</a:t>
            </a:r>
            <a:r>
              <a:rPr lang="en-US" altLang="zh-CN" dirty="0"/>
              <a:t> into one clear priority score.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Our system has three main parts.</a:t>
            </a:r>
          </a:p>
          <a:p>
            <a:r>
              <a:rPr lang="en-US" altLang="zh-CN" dirty="0"/>
              <a:t>First, the </a:t>
            </a:r>
            <a:r>
              <a:rPr lang="en-US" altLang="zh-CN" b="1" dirty="0"/>
              <a:t>Priority Queue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This gives care teams a ranked list of patients, so they can quickly see who may need attention first.</a:t>
            </a:r>
          </a:p>
          <a:p>
            <a:r>
              <a:rPr lang="en-US" altLang="zh-CN" dirty="0"/>
              <a:t>Second, the </a:t>
            </a:r>
            <a:r>
              <a:rPr lang="en-US" altLang="zh-CN" b="1" dirty="0"/>
              <a:t>Intervention Planner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If outreach capacity is limited, this helps teams focus effort where the potential benefit may be greater.</a:t>
            </a:r>
          </a:p>
          <a:p>
            <a:r>
              <a:rPr lang="en-US" altLang="zh-CN" dirty="0"/>
              <a:t>Third, the </a:t>
            </a:r>
            <a:r>
              <a:rPr lang="en-US" altLang="zh-CN" b="1" dirty="0"/>
              <a:t>Scenario Simulator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This is a community-level what-if tool.</a:t>
            </a:r>
            <a:br>
              <a:rPr lang="en-US" altLang="zh-CN" dirty="0"/>
            </a:br>
            <a:r>
              <a:rPr lang="en-US" altLang="zh-CN" dirty="0"/>
              <a:t>For example, if primary care attachment improves in one community, how might the priority burden change?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To do this, we use two tracks of data.</a:t>
            </a:r>
          </a:p>
          <a:p>
            <a:r>
              <a:rPr lang="en-US" altLang="zh-CN" dirty="0"/>
              <a:t>Track 1 is patient-level data, including encounters, ED visits, labs, medications, and follow-up gaps.</a:t>
            </a:r>
          </a:p>
          <a:p>
            <a:r>
              <a:rPr lang="en-US" altLang="zh-CN" dirty="0"/>
              <a:t>Track 2 is community-level data, including family doctor attachment, poverty, opioid overdose rates, and wait time context.</a:t>
            </a:r>
          </a:p>
          <a:p>
            <a:r>
              <a:rPr lang="en-US" altLang="zh-CN" dirty="0"/>
              <a:t>From these two tracks, we calculate:</a:t>
            </a:r>
            <a:br>
              <a:rPr lang="en-US" altLang="zh-CN" dirty="0"/>
            </a:br>
            <a:r>
              <a:rPr lang="en-US" altLang="zh-CN" dirty="0"/>
              <a:t>a </a:t>
            </a:r>
            <a:r>
              <a:rPr lang="en-US" altLang="zh-CN" b="1" dirty="0"/>
              <a:t>Patient Risk Score</a:t>
            </a:r>
            <a:r>
              <a:rPr lang="en-US" altLang="zh-CN" dirty="0"/>
              <a:t>,</a:t>
            </a:r>
            <a:br>
              <a:rPr lang="en-US" altLang="zh-CN" dirty="0"/>
            </a:br>
            <a:r>
              <a:rPr lang="en-US" altLang="zh-CN" dirty="0"/>
              <a:t>a </a:t>
            </a:r>
            <a:r>
              <a:rPr lang="en-US" altLang="zh-CN" b="1" dirty="0"/>
              <a:t>Community Vulnerability Score</a:t>
            </a:r>
            <a:r>
              <a:rPr lang="en-US" altLang="zh-CN" dirty="0"/>
              <a:t>,</a:t>
            </a:r>
            <a:br>
              <a:rPr lang="en-US" altLang="zh-CN" dirty="0"/>
            </a:br>
            <a:r>
              <a:rPr lang="en-US" altLang="zh-CN" dirty="0"/>
              <a:t>and then a </a:t>
            </a:r>
            <a:r>
              <a:rPr lang="en-US" altLang="zh-CN" b="1" dirty="0"/>
              <a:t>Combined Priority Score</a:t>
            </a:r>
            <a:r>
              <a:rPr lang="en-US" altLang="zh-CN" dirty="0"/>
              <a:t>:</a:t>
            </a:r>
            <a:br>
              <a:rPr lang="en-US" altLang="zh-CN" dirty="0"/>
            </a:br>
            <a:r>
              <a:rPr lang="en-US" altLang="zh-CN" dirty="0"/>
              <a:t>60 percent clinical and 40 percent community.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The patient score is based on factors like:</a:t>
            </a:r>
            <a:br>
              <a:rPr lang="en-US" altLang="zh-CN" dirty="0"/>
            </a:br>
            <a:r>
              <a:rPr lang="en-US" altLang="zh-CN" dirty="0"/>
              <a:t>repeat ED visits,</a:t>
            </a:r>
            <a:br>
              <a:rPr lang="en-US" altLang="zh-CN" dirty="0"/>
            </a:br>
            <a:r>
              <a:rPr lang="en-US" altLang="zh-CN" dirty="0"/>
              <a:t>uncontrolled chronic disease,</a:t>
            </a:r>
            <a:br>
              <a:rPr lang="en-US" altLang="zh-CN" dirty="0"/>
            </a:br>
            <a:r>
              <a:rPr lang="en-US" altLang="zh-CN" dirty="0"/>
              <a:t>polypharmacy,</a:t>
            </a:r>
            <a:br>
              <a:rPr lang="en-US" altLang="zh-CN" dirty="0"/>
            </a:br>
            <a:r>
              <a:rPr lang="en-US" altLang="zh-CN" dirty="0"/>
              <a:t>and other follow-up or access-related signals.</a:t>
            </a:r>
          </a:p>
          <a:p>
            <a:r>
              <a:rPr lang="en-US" altLang="zh-CN" dirty="0"/>
              <a:t>Then we assign patients into clear priority tiers,</a:t>
            </a:r>
            <a:br>
              <a:rPr lang="en-US" altLang="zh-CN" dirty="0"/>
            </a:br>
            <a:r>
              <a:rPr lang="en-US" altLang="zh-CN" dirty="0"/>
              <a:t>from </a:t>
            </a:r>
            <a:r>
              <a:rPr lang="en-US" altLang="zh-CN" b="1" dirty="0"/>
              <a:t>Critical</a:t>
            </a:r>
            <a:r>
              <a:rPr lang="en-US" altLang="zh-CN" dirty="0"/>
              <a:t> to </a:t>
            </a:r>
            <a:r>
              <a:rPr lang="en-US" altLang="zh-CN" b="1" dirty="0"/>
              <a:t>Low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The main point is that this is not a black box.</a:t>
            </a:r>
            <a:br>
              <a:rPr lang="en-US" altLang="zh-CN" dirty="0"/>
            </a:br>
            <a:r>
              <a:rPr lang="en-US" altLang="zh-CN" dirty="0"/>
              <a:t>The weights are explicit, and the scoring is fully auditable.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In our demo, we scored </a:t>
            </a:r>
            <a:r>
              <a:rPr lang="en-US" altLang="zh-CN" b="1" dirty="0"/>
              <a:t>2,000 patients</a:t>
            </a:r>
            <a:r>
              <a:rPr lang="en-US" altLang="zh-CN" dirty="0"/>
              <a:t>.</a:t>
            </a:r>
            <a:br>
              <a:rPr lang="en-US" altLang="zh-CN" dirty="0"/>
            </a:br>
            <a:r>
              <a:rPr lang="en-US" altLang="zh-CN" dirty="0"/>
              <a:t>We identified </a:t>
            </a:r>
            <a:r>
              <a:rPr lang="en-US" altLang="zh-CN" b="1" dirty="0"/>
              <a:t>349 high-priority patients</a:t>
            </a:r>
            <a:r>
              <a:rPr lang="en-US" altLang="zh-CN" dirty="0"/>
              <a:t> with limited GP access.</a:t>
            </a:r>
            <a:br>
              <a:rPr lang="en-US" altLang="zh-CN" dirty="0"/>
            </a:br>
            <a:r>
              <a:rPr lang="en-US" altLang="zh-CN" dirty="0"/>
              <a:t>We also estimated </a:t>
            </a:r>
            <a:r>
              <a:rPr lang="en-US" altLang="zh-CN" b="1" dirty="0"/>
              <a:t>170 avoidable ED visits per year</a:t>
            </a:r>
            <a:r>
              <a:rPr lang="en-US" altLang="zh-CN" dirty="0"/>
              <a:t> under our planning assumptions.</a:t>
            </a:r>
          </a:p>
          <a:p>
            <a:r>
              <a:rPr lang="en-US" altLang="zh-CN" dirty="0"/>
              <a:t>So the value of the system is really this:</a:t>
            </a:r>
          </a:p>
          <a:p>
            <a:r>
              <a:rPr lang="en-US" altLang="zh-CN" dirty="0"/>
              <a:t>it does not just show who is sick.</a:t>
            </a:r>
            <a:br>
              <a:rPr lang="en-US" altLang="zh-CN" dirty="0"/>
            </a:br>
            <a:r>
              <a:rPr lang="en-US" altLang="zh-CN" dirty="0"/>
              <a:t>It helps show who is at higher risk </a:t>
            </a:r>
            <a:r>
              <a:rPr lang="en-US" altLang="zh-CN" b="1" dirty="0"/>
              <a:t>and</a:t>
            </a:r>
            <a:r>
              <a:rPr lang="en-US" altLang="zh-CN" dirty="0"/>
              <a:t> more likely to be missed by the system.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also want to be clear about what this tool is, and what it is not.</a:t>
            </a:r>
          </a:p>
          <a:p>
            <a:r>
              <a:rPr lang="en-US" altLang="zh-CN" dirty="0"/>
              <a:t>It is a tool for </a:t>
            </a:r>
            <a:r>
              <a:rPr lang="en-US" altLang="zh-CN" b="1" dirty="0"/>
              <a:t>prioritization</a:t>
            </a:r>
            <a:r>
              <a:rPr lang="en-US" altLang="zh-CN" dirty="0"/>
              <a:t>, not diagnosis.</a:t>
            </a:r>
            <a:br>
              <a:rPr lang="en-US" altLang="zh-CN" dirty="0"/>
            </a:br>
            <a:r>
              <a:rPr lang="en-US" altLang="zh-CN" dirty="0"/>
              <a:t>It does not prove causality.</a:t>
            </a:r>
            <a:br>
              <a:rPr lang="en-US" altLang="zh-CN" dirty="0"/>
            </a:br>
            <a:r>
              <a:rPr lang="en-US" altLang="zh-CN" dirty="0"/>
              <a:t>And community-level statistics are not the same as individual-level truth.</a:t>
            </a:r>
          </a:p>
          <a:p>
            <a:r>
              <a:rPr lang="en-US" altLang="zh-CN" dirty="0"/>
              <a:t>That is why we made the scoring transparent, the reasoning visible, and the limitations explicit.</a:t>
            </a:r>
          </a:p>
          <a:p>
            <a:r>
              <a:rPr lang="en-US" altLang="zh-CN" dirty="0"/>
              <a:t>We believe a trustworthy tool should not hide uncertainty.</a:t>
            </a:r>
            <a:br>
              <a:rPr lang="en-US" altLang="zh-CN" dirty="0"/>
            </a:br>
            <a:r>
              <a:rPr lang="en-US" altLang="zh-CN" dirty="0"/>
              <a:t>It should show what it knows, and also what it does not know.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So in one sentence:</a:t>
            </a:r>
          </a:p>
          <a:p>
            <a:r>
              <a:rPr lang="en-US" altLang="zh-CN" dirty="0"/>
              <a:t>Our project helps care teams use limited resources more effectively, and more equitably.</a:t>
            </a:r>
          </a:p>
          <a:p>
            <a:r>
              <a:rPr lang="en-US" altLang="zh-CN" dirty="0"/>
              <a:t>Thank you.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care-priority.streamlit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rachel-wenhui-ma/care-priorit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4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AI-Enabled Care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Prioritization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care gap detection for Island Health, BC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2286000" cy="0"/>
          </a:xfrm>
          <a:prstGeom prst="line">
            <a:avLst/>
          </a:prstGeom>
          <a:noFill/>
          <a:ln w="38100">
            <a:solidFill>
              <a:srgbClr val="E844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Rachel Ma  &amp;  Joel Li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 Healthcare AI Hackathon  ·  March 2026  ·  Track 2: Population Health &amp; Health Equity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73152" cy="1463040"/>
          </a:xfrm>
          <a:prstGeom prst="rect">
            <a:avLst/>
          </a:prstGeom>
          <a:solidFill>
            <a:srgbClr val="E8443A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34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4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in 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0584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residents lack a family doctor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188720"/>
            <a:ext cx="73152" cy="146304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234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7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502920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communities with vastly different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primary care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cycle through EDs without continuity of care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coordinators have no systematic way to identify who needs outreach most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look at clinical data OR community data — never both together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uncontrolled diabetes in a GP-shortage community is at compound risk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patient clinical risk with community structural barriers into one actionable priority score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560320" cy="25603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2560320" cy="54864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Queue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patient list with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Now?" reasoning: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Need, Access Barrier,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560320" cy="25603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1645920"/>
            <a:ext cx="2560320" cy="5486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Intervention Planner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49040" y="23317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N outreach capacity,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optimal patients,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avoided ED visits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cost savings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1645920"/>
            <a:ext cx="2560320" cy="25603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0" y="1645920"/>
            <a:ext cx="2560320" cy="54864"/>
          </a:xfrm>
          <a:prstGeom prst="rect">
            <a:avLst/>
          </a:prstGeom>
          <a:solidFill>
            <a:srgbClr val="13547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1828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Simulator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233172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What-if: improve primary care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attachment in a community,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tier shifts and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Claude AI per-patient rationale  ·  Full 78-community vulnerability ranking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1828800"/>
          </a:xfrm>
          <a:prstGeom prst="rect">
            <a:avLst/>
          </a:prstGeom>
          <a:solidFill>
            <a:srgbClr val="EBF5F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54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1: Patient 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&amp; ED visits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results (HbA1c, troponin)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Medications (polypharmacy)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history, follow-up gaps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943600" y="1188720"/>
            <a:ext cx="2743200" cy="1828800"/>
          </a:xfrm>
          <a:prstGeom prst="rect">
            <a:avLst/>
          </a:prstGeom>
          <a:solidFill>
            <a:srgbClr val="FEF3E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26480" y="12801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2: Community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126480" y="16916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without family doctor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Poverty, opioid overdose rates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CIHI elective wait times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BC communities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13547A"/>
                </a:solidFill>
              </a:rPr>
              <a:t>↓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858000" y="3063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7F0E"/>
                </a:solidFill>
              </a:rPr>
              <a:t>↓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2743200" cy="594360"/>
          </a:xfrm>
          <a:prstGeom prst="rect">
            <a:avLst/>
          </a:prstGeom>
          <a:solidFill>
            <a:srgbClr val="13547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429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Risk Score  (0–100)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0" y="3429000"/>
            <a:ext cx="2743200" cy="59436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3429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Vuln. Score  (0–100)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00400" y="3429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B8D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394960" y="3429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6B7B8D"/>
                </a:solidFill>
              </a:rPr>
              <a:t>←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474720" y="4297680"/>
            <a:ext cx="2194560" cy="640080"/>
          </a:xfrm>
          <a:prstGeom prst="rect">
            <a:avLst/>
          </a:prstGeom>
          <a:solidFill>
            <a:srgbClr val="0B254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74720" y="4297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Priority Score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6177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clinical  +  40% community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40233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B2545"/>
                </a:solidFill>
              </a:rPr>
              <a:t>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9601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Area-based linkage using patient geography to assign community context (CIHI-style approach)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 &amp; Tier Assignment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54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Patient Risk Score  (0–100)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3840480" cy="138988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Repeat ED visits (past 12 months)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35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 chronic disease (labs)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35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Polypharmacy (≥8 medications)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35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against medical advice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00" b="1" dirty="0">
                          <a:solidFill>
                            <a:srgbClr val="1354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additional factors (follow-up gap, wait burden, language barrier). All weights auditable in config.py.</a:t>
            </a:r>
            <a:endParaRPr lang="en-US" sz="1100" dirty="0"/>
          </a:p>
        </p:txBody>
      </p:sp>
      <p:sp>
        <p:nvSpPr>
          <p:cNvPr id="4" name="Text 3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Tiers (percentile-based)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029200" y="15544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029200" y="1554480"/>
            <a:ext cx="73152" cy="640080"/>
          </a:xfrm>
          <a:prstGeom prst="rect">
            <a:avLst/>
          </a:prstGeom>
          <a:solidFill>
            <a:srgbClr val="D62728"/>
          </a:solidFill>
          <a:ln/>
        </p:spPr>
      </p:sp>
      <p:sp>
        <p:nvSpPr>
          <p:cNvPr id="9" name="Text 6"/>
          <p:cNvSpPr/>
          <p:nvPr/>
        </p:nvSpPr>
        <p:spPr>
          <a:xfrm>
            <a:off x="5257800" y="15544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627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CRITICAL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15544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257800" y="18470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within 48h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33172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029200" y="2331720"/>
            <a:ext cx="73152" cy="64008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4" name="Text 11"/>
          <p:cNvSpPr/>
          <p:nvPr/>
        </p:nvSpPr>
        <p:spPr>
          <a:xfrm>
            <a:off x="5257800" y="2331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23317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80th–95th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257800" y="2624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in 2 weeks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0" y="310896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029200" y="3108960"/>
            <a:ext cx="73152" cy="64008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9" name="Text 16"/>
          <p:cNvSpPr/>
          <p:nvPr/>
        </p:nvSpPr>
        <p:spPr>
          <a:xfrm>
            <a:off x="525780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C51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MEDIUM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492240" y="31089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50th–80th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57800" y="34015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watchlist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029200" y="388620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029200" y="3886200"/>
            <a:ext cx="73152" cy="640080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24" name="Text 21"/>
          <p:cNvSpPr/>
          <p:nvPr/>
        </p:nvSpPr>
        <p:spPr>
          <a:xfrm>
            <a:off x="5257800" y="38862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A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492240" y="38862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50%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257800" y="41788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recall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152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weights and thresholds are explicit in config.py — fully auditable, no black box.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— What the System Reveals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6596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188720"/>
            <a:ext cx="1965960" cy="54864"/>
          </a:xfrm>
          <a:prstGeom prst="rect">
            <a:avLst/>
          </a:prstGeom>
          <a:solidFill>
            <a:srgbClr val="13547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354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2,000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scored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ranked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188720"/>
            <a:ext cx="196596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651760" y="1188720"/>
            <a:ext cx="1965960" cy="54864"/>
          </a:xfrm>
          <a:prstGeom prst="rect">
            <a:avLst/>
          </a:prstGeom>
          <a:solidFill>
            <a:srgbClr val="E8443A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4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349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65176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High-priority patients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lacking GP access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188720"/>
            <a:ext cx="196596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188720"/>
            <a:ext cx="1965960" cy="54864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7F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84632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avoidable 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per year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040880" y="1188720"/>
            <a:ext cx="1965960" cy="164592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1188720"/>
            <a:ext cx="1965960" cy="54864"/>
          </a:xfrm>
          <a:prstGeom prst="rect">
            <a:avLst/>
          </a:prstGeom>
          <a:solidFill>
            <a:srgbClr val="2CA02C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13716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CA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$85K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7040880" y="2057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annual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 from the Demo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61188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 Planner: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Outreaching top 50 patients → est. 96 fewer ED visits/yr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Simulator: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5pp GP attachment improvement → 547 patients shift to lower-urgency tiers</a:t>
            </a:r>
            <a:endParaRPr lang="en-US" sz="14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Now?" module: </a:t>
            </a: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patient has structured reasoning — Clinical Need, Access Barrier, System Impact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impact figures are scenario-based planning estimates, not validated causal outcomes.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by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into the system to earn trust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547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Explicit, auditable scoring weights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"Why Now?" explains every patient flag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as prioritization, not prediction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CIHI area-based linkage approach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ALL Track 2 datasets (community,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times, opioid surveillance)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44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Disclosed 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0" y="1828800"/>
            <a:ext cx="38404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fallacy: area stats ≠ individual truth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causal validation in this dataset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 data (Synthea)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FSA→CHSA mapping is approximate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ED reduction is modelled assumption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0B254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tool that knows what it doesn't know is more trustworthy than one that hides it."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43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1828800" cy="0"/>
          </a:xfrm>
          <a:prstGeom prst="line">
            <a:avLst/>
          </a:prstGeom>
          <a:noFill/>
          <a:ln w="38100">
            <a:solidFill>
              <a:srgbClr val="E844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37744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care-priority.streamlit.app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8E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8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github.com/rachel-wenhui-ma/care-priority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8B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Rachel Ma  ·  Joel Li  |  Track 2: Population Health &amp; Health Equity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1217</Words>
  <Application>Microsoft Office PowerPoint</Application>
  <PresentationFormat>全屏显示(16:9)</PresentationFormat>
  <Paragraphs>157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Care Prioritization System</dc:title>
  <dc:subject>PptxGenJS Presentation</dc:subject>
  <dc:creator>Rachel Ma &amp; Joel Li</dc:creator>
  <cp:lastModifiedBy>文慧 马</cp:lastModifiedBy>
  <cp:revision>2</cp:revision>
  <dcterms:created xsi:type="dcterms:W3CDTF">2026-03-28T20:02:19Z</dcterms:created>
  <dcterms:modified xsi:type="dcterms:W3CDTF">2026-03-28T21:47:42Z</dcterms:modified>
</cp:coreProperties>
</file>